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Municípios com CIB ativo</c:v>
                </c:pt>
              </c:strCache>
            </c:strRef>
          </c:tx>
          <c:spPr>
            <a:solidFill>
              <a:srgbClr val="1745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6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RS</c:v>
                  </c:pt>
                  <c:pt idx="1">
                    <c:v>PR</c:v>
                  </c:pt>
                  <c:pt idx="2">
                    <c:v>SC</c:v>
                  </c:pt>
                  <c:pt idx="3">
                    <c:v>MG</c:v>
                  </c:pt>
                  <c:pt idx="4">
                    <c:v>SP</c:v>
                  </c:pt>
                  <c:pt idx="5">
                    <c:v>PE</c:v>
                  </c:pt>
                  <c:pt idx="6">
                    <c:v>MT</c:v>
                  </c:pt>
                  <c:pt idx="7">
                    <c:v>Demais UFs</c:v>
                  </c:pt>
                  <c:pt idx="8">
                    <c:v>Nordeste (total)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</c:v>
                </c:pt>
                <c:pt idx="1">
                  <c:v>27</c:v>
                </c:pt>
                <c:pt idx="2">
                  <c:v>22</c:v>
                </c:pt>
                <c:pt idx="3">
                  <c:v>19</c:v>
                </c:pt>
                <c:pt idx="4">
                  <c:v>16</c:v>
                </c:pt>
                <c:pt idx="5">
                  <c:v>11</c:v>
                </c:pt>
                <c:pt idx="6">
                  <c:v>11</c:v>
                </c:pt>
                <c:pt idx="7">
                  <c:v>51</c:v>
                </c:pt>
                <c:pt idx="8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6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1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566928" cy="566928"/>
          </a:xfrm>
          <a:prstGeom prst="ellipse">
            <a:avLst/>
          </a:prstGeom>
          <a:solidFill>
            <a:srgbClr val="17453D"/>
          </a:solidFill>
          <a:ln w="19050">
            <a:solidFill>
              <a:srgbClr val="8FD0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D0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7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Painel de Gestão Territorial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77240" y="30175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7F5EE"/>
                </a:solidFill>
              </a:rPr>
              <a:t>Do protótipo ao dado real </a:t>
            </a:r>
            <a:pPr indent="0" marL="0">
              <a:buNone/>
            </a:pPr>
            <a:r>
              <a:rPr lang="en-US" sz="2100" dirty="0">
                <a:solidFill>
                  <a:srgbClr val="C8A45C"/>
                </a:solidFill>
              </a:rPr>
              <a:t>— dashboard de Teresina com 123 bairros de dados públicos IBGE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3977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BB2"/>
                </a:solidFill>
              </a:rPr>
              <a:t>Material de planejamento · não é proposta comercial nem produto final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4709160"/>
            <a:ext cx="2926080" cy="0"/>
          </a:xfrm>
          <a:prstGeom prst="line">
            <a:avLst/>
          </a:prstGeom>
          <a:noFill/>
          <a:ln w="31750">
            <a:solidFill>
              <a:srgbClr val="BC8A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BB2"/>
                </a:solidFill>
              </a:rPr>
              <a:t>setembro de 2026 · Teresina, PI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projeto é viável? Três verificações mudaram a resposta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600200"/>
            <a:ext cx="3438144" cy="3931920"/>
          </a:xfrm>
          <a:prstGeom prst="roundRect">
            <a:avLst>
              <a:gd name="adj" fmla="val 2394"/>
            </a:avLst>
          </a:prstGeom>
          <a:solidFill>
            <a:srgbClr val="F4E1DA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95528" y="18288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95528" y="30175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1F"/>
                </a:solidFill>
              </a:rPr>
              <a:t>endpoints públicos de API no CERURB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5528" y="384048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Toda a base do sistema é interna e protegida por cláusula de sigilo. O caminho é parceria formal — não integração técnica.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438144" cy="3931920"/>
          </a:xfrm>
          <a:prstGeom prst="roundRect">
            <a:avLst>
              <a:gd name="adj" fmla="val 2394"/>
            </a:avLst>
          </a:prstGeom>
          <a:solidFill>
            <a:srgbClr val="E4EBE7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8288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13/16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53712" y="30175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1F"/>
                </a:solidFill>
              </a:rPr>
              <a:t>campos do painel existem hoje em dado público por bairro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53712" y="384048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IBGE Censo 2022 (renda, água, esgoto, pavimentação, iluminação, demografia) + INEP + ANEEL + TCE-PI.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1600200"/>
            <a:ext cx="3438144" cy="3931920"/>
          </a:xfrm>
          <a:prstGeom prst="roundRect">
            <a:avLst>
              <a:gd name="adj" fmla="val 2394"/>
            </a:avLst>
          </a:prstGeom>
          <a:solidFill>
            <a:srgbClr val="F5EAD3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11896" y="1828800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107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311896" y="3017520"/>
            <a:ext cx="2980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0261F"/>
                </a:solidFill>
              </a:rPr>
              <a:t>dias até 31/12/2026 — prazo de integração ao CIB/Sinter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11896" y="3840480"/>
            <a:ext cx="29809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188 de 5.570 municípios transmitiram cadastro. No PI, apenas Teresina. A janela prática de contratação é nov–dez.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Verificações em fonte primária: FTP/IBGE, cerurbjus.tjpi.jus.br, contrato TJ-PI 156/2023 (PNCP), RFB/Sinter — 15 e 16/09/2026.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dashboard já roda com dados reais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Mesma identidade visual do protótipo — substituindo a grade ilustrativa por geometria oficial dos 123 bairros (IBGE CD 2022).</a:t>
            </a:r>
            <a:endParaRPr lang="en-US" sz="1400" dirty="0"/>
          </a:p>
        </p:txBody>
      </p:sp>
      <p:pic>
        <p:nvPicPr>
          <p:cNvPr id="4" name="Image 0" descr="/Users/lailson/projetos/projeto_eric/apresentacao/dash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5623560" cy="5193983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2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446520" y="155448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mudou do protótipo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46520" y="2148840"/>
            <a:ext cx="528523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Grade ilustrativa → coroplético com a malha oficial dos 123 bairros do IBGE (CD 2022)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Dados fictícios → cinco indicadores reais por bairro: renda, esgoto, água, pavimentação e iluminação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18 bairros simulados → 123 bairros reais, com ranking e cruzamento renda × esgoto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Zero negociações institucionais para montar esta tela — 100% dado aberto baixado do FTP do IBGE</a:t>
            </a:r>
            <a:endParaRPr lang="en-US" sz="1350" dirty="0"/>
          </a:p>
          <a:p>
            <a:pPr marL="127000" indent="-127000"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Arquivo: dashboard-demo/index.html — abre em qualquer navegador, sem servidor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Fonte: IBGE, Censo 2022 — agregados por bairros (características de domicílio, entorno, rendimento do responsável) e malha de bairros CD 2022.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cruzamento que sustenta o produto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Renda média dos responsáveis × cobertura de esgoto em rede, por bairro — os dois eixos do painel, em dado aberto.</a:t>
            </a:r>
            <a:endParaRPr lang="en-US" sz="1400" dirty="0"/>
          </a:p>
        </p:txBody>
      </p:sp>
      <p:pic>
        <p:nvPicPr>
          <p:cNvPr id="4" name="Image 0" descr="/Users/lailson/projetos/projeto_eric/apresentacao/dash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37360"/>
            <a:ext cx="7040880" cy="303149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818120" y="178308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33,2%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818120" y="233172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dos domicílios com esgoto em rede — média municipal ponderada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18120" y="310896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R$ 3.078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818120" y="365760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renda média mensal do responsável — Tabajaras R$ 16.629 × Chapadinha R$ 1.112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18120" y="4434840"/>
            <a:ext cx="3913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Livramento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818120" y="4983480"/>
            <a:ext cx="3913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bairro com 0% de esgoto em rede: o ranking real já aponta onde intervir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Fonte: IBGE Censo 2022, agregados por bairros (V00309/V00001; V06004) — médias ponderadas por domicílios ocupados.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de dados: três camadas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As negociações institucionais da matriz caíram de 5 para 2 — o restante é dado aberto ou coleta própria.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438144" cy="4343400"/>
          </a:xfrm>
          <a:prstGeom prst="roundRect">
            <a:avLst>
              <a:gd name="adj" fmla="val 2394"/>
            </a:avLst>
          </a:prstGeom>
          <a:solidFill>
            <a:srgbClr val="E4EBE7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7830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453D"/>
                </a:solidFill>
              </a:rPr>
              <a:t>CAMADA PÚBLICA — hoje, sem nenhum ofício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2514600"/>
            <a:ext cx="2980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IBGE por bairro: renda, água, esgoto, pavimentação, iluminação, demografia, favelas (vetores)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INEP por escola · ANEEL geração solar · TCE-PI e SICONFI (fiscal) · SINISA (saneamento) · DataJud (processos)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Geometria oficial dos bairros + SEMPLAN + ESRI/OSM como base cartográfica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554480"/>
            <a:ext cx="3438144" cy="4343400"/>
          </a:xfrm>
          <a:prstGeom prst="roundRect">
            <a:avLst>
              <a:gd name="adj" fmla="val 2394"/>
            </a:avLst>
          </a:prstGeom>
          <a:solidFill>
            <a:srgbClr val="F5EAD3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7830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C8A2E"/>
                </a:solidFill>
              </a:rPr>
              <a:t>CAMADA e-SIC — ~30 dias por pedido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514600"/>
            <a:ext cx="2980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Concessionária de saneamento: série atualizada de cobertura e rede física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ETURB: base Reurb georreferenciada (núcleos, títulos entregues)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Prazo legal: resposta em 15 dias + 10 de prorrogação (LAI)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83296" y="1554480"/>
            <a:ext cx="3438144" cy="4343400"/>
          </a:xfrm>
          <a:prstGeom prst="roundRect">
            <a:avLst>
              <a:gd name="adj" fmla="val 2394"/>
            </a:avLst>
          </a:prstGeom>
          <a:solidFill>
            <a:srgbClr val="F4E1DA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11896" y="178308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B34"/>
                </a:solidFill>
              </a:rPr>
              <a:t>CAMADA COLETA PRÓPRIA — o diferencial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11896" y="2514600"/>
            <a:ext cx="2980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Tipo de posse, status processual, família, saúde, avaliação do imóvel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Saída interoperável: SHP/UTM + memorial — compatível com cartório, TJ e CIB/Sinter</a:t>
            </a:r>
            <a:endParaRPr lang="en-US" sz="120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00" dirty="0">
                <a:solidFill>
                  <a:srgbClr val="20261F"/>
                </a:solidFill>
              </a:rPr>
              <a:t>Município como controlador (LGPD); nós como operadores do contrato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CERURB (Foxinline/TJ-PI): sem API pública — acesso apenas via convênio, cláusula 4.1.1 do contrato TJ-PI, e-SIC ou negociação direta.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CERURB: o que a verificação técnica estabeleceu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17453D"/>
                </a:solidFill>
              </a:rPr>
              <a:t>O que constatamos</a:t>
            </a:r>
            <a:endParaRPr lang="en-US" sz="1350" dirty="0"/>
          </a:p>
          <a:p>
            <a:pPr indent="0" marL="0">
              <a:spcAft>
                <a:spcPts val="1100"/>
              </a:spcAft>
              <a:buNone/>
            </a:pP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Sistema Java/JSF do TJ-PI (CERURBJus) — sem endpoints públicos (testados: todos 404)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Contrato 156/2023 com cláusula de sigilo: vedado repasse de dados a terceiros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Escala real da Foxinline: 307 subdomínios, tenants em 6 estados, 2 tribunais (TJ-PI e TJ-MT)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Scraping/playwright não é rota: dado pessoal sensível (LGPD) + rastro auditável sob o CPF da conta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309360" y="1645920"/>
            <a:ext cx="53949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700" b="1" dirty="0">
                <a:solidFill>
                  <a:srgbClr val="BC8A2E"/>
                </a:solidFill>
              </a:rPr>
              <a:t>As portas formais</a:t>
            </a:r>
            <a:endParaRPr lang="en-US" sz="1350" dirty="0"/>
          </a:p>
          <a:p>
            <a:pPr indent="0" marL="0">
              <a:spcAft>
                <a:spcPts val="1100"/>
              </a:spcAft>
              <a:buNone/>
            </a:pP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Cláusula 4.1.1: o TJ-PI pode autorizar uso por outros órgãos — porta para acesso municipal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e-SIC ao TJ-PI/SEAD para dados agregados; DataJud/PJe para métricas processuais (público)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Negociação direta com a Foxinline (contatos mapeados) — parceira fundiária em potencial</a:t>
            </a:r>
            <a:endParaRPr lang="en-US" sz="1350" dirty="0"/>
          </a:p>
          <a:p>
            <a:pPr marL="127000" indent="-127000">
              <a:spcAft>
                <a:spcPts val="1100"/>
              </a:spcAft>
              <a:buSzPct val="100000"/>
              <a:buChar char="▸"/>
            </a:pPr>
            <a:r>
              <a:rPr lang="en-US" sz="1350" dirty="0">
                <a:solidFill>
                  <a:srgbClr val="20261F"/>
                </a:solidFill>
              </a:rPr>
              <a:t>A conta criada serve para inteligência (modelos e campos do formulário), não para extração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89320" y="1783080"/>
            <a:ext cx="0" cy="3657600"/>
          </a:xfrm>
          <a:prstGeom prst="line">
            <a:avLst/>
          </a:prstGeom>
          <a:noFill/>
          <a:ln w="12700">
            <a:solidFill>
              <a:srgbClr val="D9D4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Fontes: cerurbjus.tjpi.jus.br (inspeção passiva 15/09/2026); contrato TJ-PI 156/2023 e TR SEAD-PI (PNCP); crt.sh (Certificate Transparency).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onda de conformidade é agora — e o Piauí está vazio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60020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863840" y="1645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188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7863840" y="2697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7266"/>
                </a:solidFill>
              </a:rPr>
              <a:t>municípios com CIB ativo no Brasil — 3,4% dos 5.570. Adesão é papel; transmissão é a parede.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7863840" y="45720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E7266"/>
                </a:solidFill>
              </a:rPr>
              <a:t>município do PI transmitiu: Teresina (363.805 CIBs). Os outros 223 — incluindo os com base Reurb — não têm nada.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Fonte: RFB/Sinter — inscrições ativas por município, corte de 15/09/2026 (inscricoes_ativas_setembro_2026_2.csv).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Q4/2026 — o que cabe nos 107 dias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603504" cy="603504"/>
          </a:xfrm>
          <a:prstGeom prst="ellipse">
            <a:avLst/>
          </a:prstGeom>
          <a:solidFill>
            <a:srgbClr val="174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61872" y="1993392"/>
            <a:ext cx="1922526" cy="0"/>
          </a:xfrm>
          <a:prstGeom prst="line">
            <a:avLst/>
          </a:prstGeom>
          <a:noFill/>
          <a:ln w="19050">
            <a:solidFill>
              <a:srgbClr val="D9D4C4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M0 · agora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Conector CADURB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Swagger de homologação público (manual ENAT v1.12); token OAuth via adesão gratuita. Construir antes de qualquer cliente.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7278" y="1691640"/>
            <a:ext cx="603504" cy="603504"/>
          </a:xfrm>
          <a:prstGeom prst="ellipse">
            <a:avLst/>
          </a:prstGeom>
          <a:solidFill>
            <a:srgbClr val="174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7278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080510" y="1993392"/>
            <a:ext cx="1922526" cy="0"/>
          </a:xfrm>
          <a:prstGeom prst="line">
            <a:avLst/>
          </a:prstGeom>
          <a:noFill/>
          <a:ln w="19050">
            <a:solidFill>
              <a:srgbClr val="D9D4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3367278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Outubro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67278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+ triagem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367278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Lista dos 223 municípios do PI; priorizar tenants Foxinline/Reurb com base georreferenciada. Diagnóstico como porta de entrada.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5916" y="1691640"/>
            <a:ext cx="603504" cy="603504"/>
          </a:xfrm>
          <a:prstGeom prst="ellipse">
            <a:avLst/>
          </a:prstGeom>
          <a:solidFill>
            <a:srgbClr val="1745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5916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99148" y="1993392"/>
            <a:ext cx="1922526" cy="0"/>
          </a:xfrm>
          <a:prstGeom prst="line">
            <a:avLst/>
          </a:prstGeom>
          <a:noFill/>
          <a:ln w="19050">
            <a:solidFill>
              <a:srgbClr val="D9D4C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6185916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Novembro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5916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pilotos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185916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Contratos por dispensa com SLA condicional: remessa ACEITA em homologação se a base chegar até 30/11.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4554" y="1691640"/>
            <a:ext cx="603504" cy="603504"/>
          </a:xfrm>
          <a:prstGeom prst="ellipse">
            <a:avLst/>
          </a:prstGeom>
          <a:solidFill>
            <a:srgbClr val="B14B3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4554" y="16916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04554" y="2468880"/>
            <a:ext cx="25443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C8A2E"/>
                </a:solidFill>
              </a:rPr>
              <a:t>Até 31/12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04554" y="2852928"/>
            <a:ext cx="25443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Aceite + empenho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004554" y="3401568"/>
            <a:ext cx="268147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E7266"/>
                </a:solidFill>
              </a:rPr>
              <a:t>Meta: 3–5 remessas aceitas. Dinheiro de 2026 empenhado em nov–dez; o que escorregar depende da LOA 2027.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453D"/>
                </a:solidFill>
              </a:rPr>
              <a:t>Capacidade estimada: ~2 contas/mês artesanal; 10–20/mês com conector — mas o gargalo real é o saneamento do cadastro, por isso pilotos onde a base já existe.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Prazo: LC 214/2025 art. 266 (meta prática de integração 31/12/2026; data legal 16/01/2027). Manual CADURB: ENAT, v1.12/2025.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cenários, um mesmo produto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5180076" cy="3566160"/>
          </a:xfrm>
          <a:prstGeom prst="roundRect">
            <a:avLst>
              <a:gd name="adj" fmla="val 2308"/>
            </a:avLst>
          </a:prstGeom>
          <a:solidFill>
            <a:srgbClr val="F4E1DA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4B34"/>
                </a:solidFill>
              </a:rPr>
              <a:t>CENÁRIO PÂNICO  </a:t>
            </a:r>
            <a:pPr indent="0" marL="0">
              <a:buNone/>
            </a:pPr>
            <a:r>
              <a:rPr lang="en-US" sz="1300" i="1" dirty="0">
                <a:solidFill>
                  <a:srgbClr val="6E7266"/>
                </a:solidFill>
              </a:rPr>
              <a:t>prazo mantido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46314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Gatilho: cartório recusa registro sem CIB a partir de jan/2027 — o eleitor liga para a prefeitura, não para a Receita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Gancho: “remessa aceita dentro do prazo, para não perder repasse nem travar registro”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Pacote “regularização em 90 dias” com prêmio de urgência (+20–30%) e lista de espera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31636" y="1554480"/>
            <a:ext cx="5180076" cy="3566160"/>
          </a:xfrm>
          <a:prstGeom prst="roundRect">
            <a:avLst>
              <a:gd name="adj" fmla="val 2308"/>
            </a:avLst>
          </a:prstGeom>
          <a:solidFill>
            <a:srgbClr val="E4EBE7"/>
          </a:solidFill>
          <a:ln w="9525">
            <a:solidFill>
              <a:srgbClr val="D9D4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956" y="1783080"/>
            <a:ext cx="463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453D"/>
                </a:solidFill>
              </a:rPr>
              <a:t>CENÁRIO PRORROGAÇÃO  </a:t>
            </a:r>
            <a:pPr indent="0" marL="0">
              <a:buNone/>
            </a:pPr>
            <a:r>
              <a:rPr lang="en-US" sz="1300" i="1" dirty="0">
                <a:solidFill>
                  <a:srgbClr val="6E7266"/>
                </a:solidFill>
              </a:rPr>
              <a:t>prazo estendido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05956" y="2331720"/>
            <a:ext cx="463143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Plausível: 97% sem transmissão a meses do fim; LC 214 já alterada duas vezes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Tripwire: monitorar CNM/ABRASF/RFB — se sair, trocar o gancho de “prazo” para “IBS + cartório” em 48h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20261F"/>
                </a:solidFill>
              </a:rPr>
              <a:t>Venda vira anual: diagnóstico + dashboard + manutenção (o contrato nunca é só a remessa)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5349240"/>
            <a:ext cx="11274552" cy="868680"/>
          </a:xfrm>
          <a:prstGeom prst="rect">
            <a:avLst/>
          </a:prstGeom>
          <a:solidFill>
            <a:srgbClr val="F5EAD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5468112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61F"/>
                </a:solidFill>
              </a:rPr>
              <a:t>Regra de ouro: </a:t>
            </a:r>
            <a:pPr indent="0" marL="0">
              <a:buNone/>
            </a:pPr>
            <a:r>
              <a:rPr lang="en-US" sz="1300" dirty="0">
                <a:solidFill>
                  <a:srgbClr val="20261F"/>
                </a:solidFill>
              </a:rPr>
              <a:t>SLA condicional (aceite depende da base chegar em 30/11) e todo contrato inclui o dashboard — assim a prorrogação não zera o valor do piloto.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IN RFB 2.275/2025 (cronograma cartorial até 30/09/2026) · LC 214/2025 arts. 59, 265, 266 · FAQ RFB (repasses de IBS e CIB).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0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Ticket e forma de contratação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42416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266"/>
                </a:solidFill>
              </a:rPr>
              <a:t>Entrada + primeiro ano cabem numa dispensa de serviços — sem licitação.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43814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D4C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266"/>
                </a:solidFill>
              </a:rPr>
              <a:t>Diagnóstico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21945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R$ 3–5 mil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29260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decide numa reunião; mapeia o cadastro, o gap CIB e o valor venal estimado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600200"/>
            <a:ext cx="343814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D4C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53712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266"/>
                </a:solidFill>
              </a:rPr>
              <a:t>Conformidade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53712" y="21945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R$ 12–25 mil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53712" y="29260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saneamento + conector CADURB + remessa aceita em homologação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83296" y="1600200"/>
            <a:ext cx="3438144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D9D4C4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1896" y="1810512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E7266"/>
                </a:solidFill>
              </a:rPr>
              <a:t>Manutenção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11896" y="21945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14B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R$ 4–8 mil/ano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311896" y="2926080"/>
            <a:ext cx="2980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7266"/>
                </a:solidFill>
              </a:rPr>
              <a:t>atualização contínua, dashboard e relatórios de gestão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45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R$ 65.492,11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846320" y="4617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266"/>
                </a:solidFill>
              </a:rPr>
              <a:t>teto de dispensa para serviços em 2026 (art. 75, II, Lei 14.133) — folga de 2× sobre o ticket cheio.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0261F"/>
                </a:solidFill>
              </a:rPr>
              <a:t>O produto inclui o dossiê de contratação: minuta de dispensa, estimativa de preço e caminho orçamentário (outras despesas correntes / serviços PJ). Subsídio de aquisição, quando usado, é em produto — nunca em desconto.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382512"/>
            <a:ext cx="10680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266"/>
                </a:solidFill>
              </a:rPr>
              <a:t>Decreto 12.807/2025 (limites 2026) · referências de mercado: contratos Geopixel ~R$ 270 mil (cadastro, 2019).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7266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7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próximos 30 dias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298448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FBBB2"/>
                </a:solidFill>
              </a:rPr>
              <a:t>Janela prática de assinatura: novembro–dezembro. Tudo abaixo é trabalho de campo — a análise está feita e verificada.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" y="2039112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Disparar os e-SIC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ETURB (base Reurb), SEMDUH (cadastro habitacional), Águas de Teresina (cobertura por bairro), RFB (adesões do PI por município).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5720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Sentar com a Foxinline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Contatos mapeados (notario@foxinline.com). Escopo: parceria fundiária — eles têm a coleta, nós a inteligência multi-fonte.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5720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43000" y="4087368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Fechar o piloto com o proponente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Definir o município-alvo (interior com base Reurb), a premissa “dado público + coleta própria” e a meta de remessa aceita.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720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C8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43000" y="5111496"/>
            <a:ext cx="10543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7F5EE"/>
                </a:solidFill>
              </a:rPr>
              <a:t>Construir o conector CADURB  —  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9FBBB2"/>
                </a:solidFill>
              </a:rPr>
              <a:t>Swagger público em mãos; pedir credencial de homologação à RFB (sinter.df.cocad@rfb.gov.br) em paralelo.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7200" y="6172200"/>
            <a:ext cx="2926080" cy="0"/>
          </a:xfrm>
          <a:prstGeom prst="line">
            <a:avLst/>
          </a:prstGeom>
          <a:noFill/>
          <a:ln w="31750">
            <a:solidFill>
              <a:srgbClr val="BC8A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263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BB2"/>
                </a:solidFill>
              </a:rPr>
              <a:t>Análise completa: analise-viabilidade-dashboard-gestao-municipal.md · Dashboard: dashboard-demo/index.html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Gestão Territorial — Planejamento</dc:title>
  <dc:subject>PptxGenJS Presentation</dc:subject>
  <dc:creator>Projeto Painel Territorial</dc:creator>
  <cp:lastModifiedBy>Projeto Painel Territorial</cp:lastModifiedBy>
  <cp:revision>1</cp:revision>
  <dcterms:created xsi:type="dcterms:W3CDTF">2026-09-16T10:03:36Z</dcterms:created>
  <dcterms:modified xsi:type="dcterms:W3CDTF">2026-09-16T10:03:36Z</dcterms:modified>
</cp:coreProperties>
</file>